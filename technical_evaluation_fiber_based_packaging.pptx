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  <p:sldId id="262" r:id="rId10"/>
  </p:sldIdLst>
  <p:sldSz cx="18288000" cy="10287000"/>
  <p:notesSz cx="6858000" cy="9144000"/>
  <p:embeddedFontLst>
    <p:embeddedFont>
      <p:font typeface="Arial Black" panose="020B0A04020102020204" pitchFamily="34" charset="0"/>
      <p:bold r:id="rId12"/>
    </p:embeddedFont>
    <p:embeddedFont>
      <p:font typeface="Cambria Math" panose="02040503050406030204" pitchFamily="18" charset="0"/>
      <p:regular r:id="rId13"/>
    </p:embeddedFont>
    <p:embeddedFont>
      <p:font typeface="Lucida Sans" panose="020B0602030504020204" pitchFamily="34" charset="0"/>
      <p:regular r:id="rId14"/>
      <p:bold r:id="rId15"/>
      <p:italic r:id="rId16"/>
      <p:boldItalic r:id="rId17"/>
    </p:embeddedFont>
    <p:embeddedFont>
      <p:font typeface="Montserrat Bold" panose="020B0604020202020204" charset="0"/>
      <p:regular r:id="rId18"/>
    </p:embeddedFont>
    <p:embeddedFont>
      <p:font typeface="Montserrat Medium" panose="00000600000000000000" pitchFamily="2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F96A0-BD97-42A4-A259-36F7798CC5F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81DC7-DAA9-438C-8ACC-05EC13369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06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22F7C-E696-BEA3-99B5-BE37BDA4A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7138A-6F41-0C0B-AD35-29849678A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30570-8B4B-9DBD-F331-D98FE414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9F3B8-B5B5-28EC-BDAD-28CE6658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7E176-6BFA-74DB-88F7-D3569825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39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486F-D189-B994-5615-309F7D80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356B-FD80-67A4-A9EC-F0AEE9299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2F78E-4D26-DDE9-35DC-42322B8D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CA5D-0E8B-090C-29D7-086809832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E3D0-ABB7-757C-0115-C9C8B208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4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C5DCD-C978-BCF9-4075-3795D8BE3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44005-6F35-398C-5FAF-E5986E2C2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8FDD0-1AF1-6B7D-D722-EB9C70D2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50818-8375-5D6E-D6C8-5A5D8E45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CDD3C-9159-EEE4-5DC8-A5ABFFD0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3646-8923-2C95-3D45-45882E7F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309A2-51F6-EA97-F810-BDD058201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7E825-6857-F31E-552A-195B25F23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12607-0ACD-0832-F4A5-7B40EFA8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3ADCF-A866-736E-45A8-B55D7A3D9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563C9-64DD-F090-59A1-9FB3A6C3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18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73492-E181-403D-1EA2-7E2B0A3F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1823F-20E1-012E-0EF5-73A5276FB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E8274-2F31-DA64-41FE-D7989BA44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78210-179B-12A6-1B63-45F3681BB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CC723-ED79-BC71-E15E-35611526C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7D057-D503-C1C2-D906-239744A4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26F19-69CD-BA06-9BBC-B06C693A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4AF58-4413-500E-BC15-E9788F43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4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808F-8D72-097B-374A-06DE409F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E0012-83A5-B2CB-773A-7CE47662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20E93-4139-BF89-C356-9D217F26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0275A-CF24-0E59-E283-B66659A7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32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B1AED-BD9E-55C4-4533-370FA5DB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D3C4A-0520-F0A4-CAEB-93E3E31B7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7B60A-44A2-71E1-B908-B2BADDD6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8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C047-CF92-0CA7-C838-5858F85A1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B72B5-6D4F-BF90-81A7-05F67933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364B8-6061-FD1D-72F2-48203F5DB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40EFC-78DD-658C-775B-46B6CDAB3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BD44E-DADA-6BAB-3B9C-9A3DD4D7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64580-E6DA-43A3-9649-CA4850CF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5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F359-1A2F-C6DD-E75A-90183709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A8E1-082E-1CC5-B04E-197FE8384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3CC79-131F-09D0-C307-8A501CA60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7BE94-010D-1503-1866-B920AB74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065E5-D1C3-43B4-7BDE-0FB65390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B5825-620D-7AEC-3CDB-BB75F22E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08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376A-8DA9-6B50-2C99-5C89C2E7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9AE7E-DE8F-FAF4-ABF0-8730A0215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080A9-85C6-498A-336E-457590CA0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F592B-437E-2E55-8D92-F40EB1C8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87B76-62C9-6443-91F1-58AF4AA8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5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89DAD-CF19-F76B-BE02-E687A45D6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25E94-F35C-30A6-5EBF-3ECB2CF0F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DBA15-64D3-F24D-3195-39536702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72606-4B5B-A994-FF87-1049A277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4C5E-0BF5-29C8-BDDC-2FBA467A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3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E4E88-40F3-D4F5-CA6E-49C0E8D3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6A425-1E4A-CEDB-F990-1F72142AD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1F73-0D27-AFF6-536A-9F4B5739E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EB982-B86D-C876-88B4-02D50AC9B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C52A9-8361-1ACE-5655-68D96C3A0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9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33" r="-3333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 flipV="1">
            <a:off x="2362200" y="4179724"/>
            <a:ext cx="13563600" cy="125576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45291" y="9104662"/>
            <a:ext cx="119192" cy="121007"/>
          </a:xfrm>
          <a:custGeom>
            <a:avLst/>
            <a:gdLst/>
            <a:ahLst/>
            <a:cxnLst/>
            <a:rect l="l" t="t" r="r" b="b"/>
            <a:pathLst>
              <a:path w="119192" h="121007">
                <a:moveTo>
                  <a:pt x="0" y="0"/>
                </a:moveTo>
                <a:lnTo>
                  <a:pt x="119192" y="0"/>
                </a:lnTo>
                <a:lnTo>
                  <a:pt x="119192" y="121007"/>
                </a:lnTo>
                <a:lnTo>
                  <a:pt x="0" y="1210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7569593" y="9104662"/>
            <a:ext cx="121007" cy="121007"/>
          </a:xfrm>
          <a:custGeom>
            <a:avLst/>
            <a:gdLst/>
            <a:ahLst/>
            <a:cxnLst/>
            <a:rect l="l" t="t" r="r" b="b"/>
            <a:pathLst>
              <a:path w="121007" h="121007">
                <a:moveTo>
                  <a:pt x="0" y="0"/>
                </a:moveTo>
                <a:lnTo>
                  <a:pt x="121007" y="0"/>
                </a:lnTo>
                <a:lnTo>
                  <a:pt x="121007" y="121007"/>
                </a:lnTo>
                <a:lnTo>
                  <a:pt x="0" y="1210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433316" y="193148"/>
            <a:ext cx="16534785" cy="2001452"/>
          </a:xfrm>
          <a:custGeom>
            <a:avLst/>
            <a:gdLst/>
            <a:ahLst/>
            <a:cxnLst/>
            <a:rect l="l" t="t" r="r" b="b"/>
            <a:pathLst>
              <a:path w="6923628" h="1153938">
                <a:moveTo>
                  <a:pt x="0" y="0"/>
                </a:moveTo>
                <a:lnTo>
                  <a:pt x="6923628" y="0"/>
                </a:lnTo>
                <a:lnTo>
                  <a:pt x="6923628" y="1153938"/>
                </a:lnTo>
                <a:lnTo>
                  <a:pt x="0" y="11539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536825" y="5839992"/>
            <a:ext cx="17370176" cy="1374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8"/>
              </a:lnSpc>
            </a:pPr>
            <a:r>
              <a:rPr lang="en-US" sz="3600" b="1" dirty="0">
                <a:latin typeface="Lexend Deca"/>
                <a:ea typeface="Lexend Deca"/>
                <a:cs typeface="Lexend Deca"/>
                <a:sym typeface="Lexend Deca"/>
              </a:rPr>
              <a:t>Technical Evaluation of Fiber-Based Packaging and Bio-Polymer Barriers</a:t>
            </a:r>
          </a:p>
          <a:p>
            <a:pPr algn="ctr"/>
            <a:r>
              <a:rPr lang="en-US" sz="3600" b="1" dirty="0">
                <a:latin typeface="Lexend Deca"/>
                <a:ea typeface="Lexend Deca"/>
                <a:cs typeface="Lexend Deca"/>
                <a:sym typeface="Lexend Deca"/>
              </a:rPr>
              <a:t>for Liquid Food Applications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42701" y="9816219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Feb 10,2026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209800" y="2387748"/>
            <a:ext cx="14184848" cy="3671259"/>
            <a:chOff x="-241291" y="-2763785"/>
            <a:chExt cx="17507663" cy="4369720"/>
          </a:xfrm>
        </p:grpSpPr>
        <p:sp>
          <p:nvSpPr>
            <p:cNvPr id="16" name="TextBox 16"/>
            <p:cNvSpPr txBox="1"/>
            <p:nvPr/>
          </p:nvSpPr>
          <p:spPr>
            <a:xfrm>
              <a:off x="3672861" y="-1812237"/>
              <a:ext cx="8059729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NUTRIZIONE’ 26</a:t>
              </a:r>
            </a:p>
          </p:txBody>
        </p:sp>
        <p:sp>
          <p:nvSpPr>
            <p:cNvPr id="17" name="Freeform 17"/>
            <p:cNvSpPr/>
            <p:nvPr/>
          </p:nvSpPr>
          <p:spPr>
            <a:xfrm rot="11507871">
              <a:off x="12963402" y="-297072"/>
              <a:ext cx="4302970" cy="1903007"/>
            </a:xfrm>
            <a:custGeom>
              <a:avLst/>
              <a:gdLst/>
              <a:ahLst/>
              <a:cxnLst/>
              <a:rect l="l" t="t" r="r" b="b"/>
              <a:pathLst>
                <a:path w="4302970" h="1903006">
                  <a:moveTo>
                    <a:pt x="0" y="0"/>
                  </a:moveTo>
                  <a:lnTo>
                    <a:pt x="4302970" y="0"/>
                  </a:lnTo>
                  <a:lnTo>
                    <a:pt x="4302970" y="1903006"/>
                  </a:lnTo>
                  <a:lnTo>
                    <a:pt x="0" y="190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963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241291" y="-2763785"/>
              <a:ext cx="4069568" cy="1903007"/>
            </a:xfrm>
            <a:custGeom>
              <a:avLst/>
              <a:gdLst/>
              <a:ahLst/>
              <a:cxnLst/>
              <a:rect l="l" t="t" r="r" b="b"/>
              <a:pathLst>
                <a:path w="4069568" h="1903006">
                  <a:moveTo>
                    <a:pt x="0" y="0"/>
                  </a:moveTo>
                  <a:lnTo>
                    <a:pt x="4069568" y="0"/>
                  </a:lnTo>
                  <a:lnTo>
                    <a:pt x="4069568" y="1903006"/>
                  </a:lnTo>
                  <a:lnTo>
                    <a:pt x="0" y="190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05003" r="-265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81000" y="7658100"/>
            <a:ext cx="10058399" cy="2114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Lucida Sans" panose="020B0602030504020204" pitchFamily="34" charset="0"/>
                <a:ea typeface="Microsoft YaHei Light" panose="020B0502040204020203" pitchFamily="34" charset="-122"/>
                <a:cs typeface="Montserrat Bold"/>
                <a:sym typeface="Montserrat Bold"/>
              </a:rPr>
              <a:t>TEAM MEMBERS:</a:t>
            </a:r>
            <a:br>
              <a:rPr lang="en-US" sz="3000" dirty="0">
                <a:solidFill>
                  <a:srgbClr val="000000"/>
                </a:solidFill>
                <a:latin typeface="Lucida Sans" panose="020B0602030504020204" pitchFamily="34" charset="0"/>
                <a:ea typeface="Microsoft YaHei Light" panose="020B0502040204020203" pitchFamily="34" charset="-122"/>
                <a:cs typeface="Montserrat Bold"/>
                <a:sym typeface="Montserrat Bold"/>
              </a:rPr>
            </a:br>
            <a:r>
              <a:rPr lang="en-US" sz="3000" dirty="0">
                <a:solidFill>
                  <a:srgbClr val="000000"/>
                </a:solidFill>
                <a:latin typeface="Lucida Sans" panose="020B0602030504020204" pitchFamily="34" charset="0"/>
                <a:ea typeface="Microsoft YaHei Light" panose="020B0502040204020203" pitchFamily="34" charset="-122"/>
                <a:cs typeface="Montserrat Bold"/>
                <a:sym typeface="Montserrat Bold"/>
              </a:rPr>
              <a:t>Pratheeksha Shalbin  -  URK25FP2003</a:t>
            </a:r>
            <a:br>
              <a:rPr lang="en-US" sz="3000" dirty="0">
                <a:solidFill>
                  <a:srgbClr val="000000"/>
                </a:solidFill>
                <a:latin typeface="Lucida Sans" panose="020B0602030504020204" pitchFamily="34" charset="0"/>
                <a:ea typeface="Microsoft YaHei Light" panose="020B0502040204020203" pitchFamily="34" charset="-122"/>
                <a:cs typeface="Montserrat Bold"/>
                <a:sym typeface="Montserrat Bold"/>
              </a:rPr>
            </a:br>
            <a:r>
              <a:rPr lang="en-US" sz="3000" dirty="0">
                <a:solidFill>
                  <a:srgbClr val="000000"/>
                </a:solidFill>
                <a:latin typeface="Lucida Sans" panose="020B0602030504020204" pitchFamily="34" charset="0"/>
                <a:ea typeface="Microsoft YaHei Light" panose="020B0502040204020203" pitchFamily="34" charset="-122"/>
                <a:cs typeface="Montserrat Bold"/>
                <a:sym typeface="Montserrat Bold"/>
              </a:rPr>
              <a:t>Deekshanya Shri L      -  URK25FP2010</a:t>
            </a:r>
            <a:br>
              <a:rPr lang="en-US" sz="3000" dirty="0">
                <a:solidFill>
                  <a:srgbClr val="000000"/>
                </a:solidFill>
                <a:latin typeface="Lucida Sans" panose="020B0602030504020204" pitchFamily="34" charset="0"/>
                <a:ea typeface="Microsoft YaHei Light" panose="020B0502040204020203" pitchFamily="34" charset="-122"/>
                <a:cs typeface="Montserrat Bold"/>
                <a:sym typeface="Montserrat Bold"/>
              </a:rPr>
            </a:br>
            <a:r>
              <a:rPr lang="en-US" sz="3000" dirty="0">
                <a:solidFill>
                  <a:srgbClr val="000000"/>
                </a:solidFill>
                <a:latin typeface="Lucida Sans" panose="020B0602030504020204" pitchFamily="34" charset="0"/>
                <a:ea typeface="Microsoft YaHei Light" panose="020B0502040204020203" pitchFamily="34" charset="-122"/>
                <a:cs typeface="Montserrat Bold"/>
                <a:sym typeface="Montserrat Bold"/>
              </a:rPr>
              <a:t>Shanney Maria Simon - URK25FP2006</a:t>
            </a:r>
            <a:endParaRPr lang="en-US" sz="3000" dirty="0">
              <a:solidFill>
                <a:srgbClr val="B5BCC4"/>
              </a:solidFill>
              <a:latin typeface="Lucida Sans" panose="020B0602030504020204" pitchFamily="34" charset="0"/>
              <a:ea typeface="Microsoft YaHei Light" panose="020B0502040204020203" pitchFamily="34" charset="-122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84048" y="147777"/>
            <a:ext cx="1289305" cy="1289305"/>
          </a:xfrm>
          <a:custGeom>
            <a:avLst/>
            <a:gdLst/>
            <a:ahLst/>
            <a:cxnLst/>
            <a:rect l="l" t="t" r="r" b="b"/>
            <a:pathLst>
              <a:path w="1289305" h="1289305">
                <a:moveTo>
                  <a:pt x="0" y="0"/>
                </a:moveTo>
                <a:lnTo>
                  <a:pt x="1289304" y="0"/>
                </a:lnTo>
                <a:lnTo>
                  <a:pt x="1289304" y="1289305"/>
                </a:lnTo>
                <a:lnTo>
                  <a:pt x="0" y="1289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782F8A6-4EB8-A957-58AD-DA94DE4FE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171969"/>
              </p:ext>
            </p:extLst>
          </p:nvPr>
        </p:nvGraphicFramePr>
        <p:xfrm>
          <a:off x="379132" y="3656370"/>
          <a:ext cx="11736668" cy="914400"/>
        </p:xfrm>
        <a:graphic>
          <a:graphicData uri="http://schemas.openxmlformats.org/drawingml/2006/table">
            <a:tbl>
              <a:tblPr/>
              <a:tblGrid>
                <a:gridCol w="5868334">
                  <a:extLst>
                    <a:ext uri="{9D8B030D-6E8A-4147-A177-3AD203B41FA5}">
                      <a16:colId xmlns:a16="http://schemas.microsoft.com/office/drawing/2014/main" val="1464453180"/>
                    </a:ext>
                  </a:extLst>
                </a:gridCol>
                <a:gridCol w="5868334">
                  <a:extLst>
                    <a:ext uri="{9D8B030D-6E8A-4147-A177-3AD203B41FA5}">
                      <a16:colId xmlns:a16="http://schemas.microsoft.com/office/drawing/2014/main" val="24327757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18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547401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2575300" y="121439"/>
            <a:ext cx="10759700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A55FF-0150-7FD8-6164-44BEF35F9F10}"/>
              </a:ext>
            </a:extLst>
          </p:cNvPr>
          <p:cNvSpPr txBox="1"/>
          <p:nvPr/>
        </p:nvSpPr>
        <p:spPr>
          <a:xfrm>
            <a:off x="609600" y="2628900"/>
            <a:ext cx="104216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Current liquid food packaging (like aseptic cartons) relies on multi-layer </a:t>
            </a:r>
            <a:r>
              <a:rPr lang="en-I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laminates of polyethylene (plastic) and aluminum. While these provide an excellent barrier against moisture and oxygen, they are extremely difficult to recycle and are derived from non-renewable resources.</a:t>
            </a:r>
          </a:p>
          <a:p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​The technical challenge is that fiber-based materials (paper) are inherently porous and hydrophilic (water-attracting), making them unsuitable for liquids unless paired with a barrier that matches the performance of plastic but maintains the recyclability of paper.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0" y="1573212"/>
            <a:ext cx="18288000" cy="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" name="AutoShape 2"/>
          <p:cNvSpPr/>
          <p:nvPr/>
        </p:nvSpPr>
        <p:spPr>
          <a:xfrm>
            <a:off x="0" y="9719678"/>
            <a:ext cx="182880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7DED09-397D-B806-B624-EF70C8B4C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0709" y="1604545"/>
            <a:ext cx="6085114" cy="8083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6793" y="10020300"/>
            <a:ext cx="182880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575300" y="365125"/>
            <a:ext cx="131374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</a:t>
            </a:r>
          </a:p>
        </p:txBody>
      </p:sp>
      <p:sp>
        <p:nvSpPr>
          <p:cNvPr id="4" name="Freeform 4"/>
          <p:cNvSpPr/>
          <p:nvPr/>
        </p:nvSpPr>
        <p:spPr>
          <a:xfrm>
            <a:off x="-44335" y="-100610"/>
            <a:ext cx="1289305" cy="1289305"/>
          </a:xfrm>
          <a:custGeom>
            <a:avLst/>
            <a:gdLst/>
            <a:ahLst/>
            <a:cxnLst/>
            <a:rect l="l" t="t" r="r" b="b"/>
            <a:pathLst>
              <a:path w="1289305" h="1289305">
                <a:moveTo>
                  <a:pt x="0" y="0"/>
                </a:moveTo>
                <a:lnTo>
                  <a:pt x="1289304" y="0"/>
                </a:lnTo>
                <a:lnTo>
                  <a:pt x="1289304" y="1289305"/>
                </a:lnTo>
                <a:lnTo>
                  <a:pt x="0" y="1289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 flipV="1">
            <a:off x="-75867" y="1558925"/>
            <a:ext cx="18363868" cy="98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03C04C-5D15-49F2-5D20-072D4EB33E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8925"/>
            <a:ext cx="8700166" cy="84514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467FEB-256D-47CC-153E-7F43FD70550E}"/>
              </a:ext>
            </a:extLst>
          </p:cNvPr>
          <p:cNvSpPr txBox="1"/>
          <p:nvPr/>
        </p:nvSpPr>
        <p:spPr>
          <a:xfrm>
            <a:off x="9012313" y="2357100"/>
            <a:ext cx="922889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The global food industry is under increasing pressure to transition from traditional PET and glass packaging to sustainable alternatives like "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Paper Bottles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". Developed through molded fiber technology, these designs aim to establish a circular packaging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​For professionals, the primary technical challenge lies in maintaining necessary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Water Vapor (WVTR)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and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Oxygen Transmission Rates (OTR)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to preserve beverage shelf-life and organoleptic properties. Research highlights plant-based liners, such as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Polyethylene Furanoate (PEF) ,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as ultra-thin internal coatings that prevent moisture absorption and structural degradation of the wood-pulp shell.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While difficulties persist in carbonated pressure management and high-speed aseptic filling, these fiber-based systems can reduce plastic use by 60–80%. Ultimately, integrating bio-barrier engineering provides a viable, recyclable pathway for sustainable liquid food distribution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.</a:t>
            </a:r>
            <a:endParaRPr lang="en-IN" sz="2400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575300" y="128855"/>
            <a:ext cx="13137400" cy="116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Montserrat Bold" panose="020B0604020202020204" charset="0"/>
                <a:ea typeface="Cambria Math" panose="02040503050406030204" pitchFamily="18" charset="0"/>
                <a:cs typeface="Montserrat Bold"/>
                <a:sym typeface="Montserrat Bold"/>
              </a:rPr>
              <a:t>METHODOLOGY</a:t>
            </a:r>
          </a:p>
        </p:txBody>
      </p:sp>
      <p:sp>
        <p:nvSpPr>
          <p:cNvPr id="4" name="Freeform 4"/>
          <p:cNvSpPr/>
          <p:nvPr/>
        </p:nvSpPr>
        <p:spPr>
          <a:xfrm>
            <a:off x="384048" y="147777"/>
            <a:ext cx="1289305" cy="1289305"/>
          </a:xfrm>
          <a:custGeom>
            <a:avLst/>
            <a:gdLst/>
            <a:ahLst/>
            <a:cxnLst/>
            <a:rect l="l" t="t" r="r" b="b"/>
            <a:pathLst>
              <a:path w="1289305" h="1289305">
                <a:moveTo>
                  <a:pt x="0" y="0"/>
                </a:moveTo>
                <a:lnTo>
                  <a:pt x="1289304" y="0"/>
                </a:lnTo>
                <a:lnTo>
                  <a:pt x="1289304" y="1289305"/>
                </a:lnTo>
                <a:lnTo>
                  <a:pt x="0" y="1289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0" y="1573212"/>
            <a:ext cx="18288000" cy="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9ADD0C5D-F169-A1C0-0B86-FE06882C16DF}"/>
              </a:ext>
            </a:extLst>
          </p:cNvPr>
          <p:cNvSpPr/>
          <p:nvPr/>
        </p:nvSpPr>
        <p:spPr>
          <a:xfrm>
            <a:off x="0" y="9944094"/>
            <a:ext cx="18288000" cy="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3F6C7F-33F9-F1B4-933D-61E7C5B01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374" y="1823770"/>
            <a:ext cx="10061543" cy="75869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54AA4-C784-20FE-294C-471FEB4B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1A17AC8-8304-BBC5-1A73-3BED8D3BB763}"/>
              </a:ext>
            </a:extLst>
          </p:cNvPr>
          <p:cNvSpPr txBox="1"/>
          <p:nvPr/>
        </p:nvSpPr>
        <p:spPr>
          <a:xfrm>
            <a:off x="2575300" y="128855"/>
            <a:ext cx="131374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FOOD SAFETY EVALUATION 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ECC0E71-1388-E34D-BAB1-68816986ED72}"/>
              </a:ext>
            </a:extLst>
          </p:cNvPr>
          <p:cNvSpPr/>
          <p:nvPr/>
        </p:nvSpPr>
        <p:spPr>
          <a:xfrm>
            <a:off x="384048" y="147777"/>
            <a:ext cx="1289305" cy="1289305"/>
          </a:xfrm>
          <a:custGeom>
            <a:avLst/>
            <a:gdLst/>
            <a:ahLst/>
            <a:cxnLst/>
            <a:rect l="l" t="t" r="r" b="b"/>
            <a:pathLst>
              <a:path w="1289305" h="1289305">
                <a:moveTo>
                  <a:pt x="0" y="0"/>
                </a:moveTo>
                <a:lnTo>
                  <a:pt x="1289304" y="0"/>
                </a:lnTo>
                <a:lnTo>
                  <a:pt x="1289304" y="1289305"/>
                </a:lnTo>
                <a:lnTo>
                  <a:pt x="0" y="1289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FEC81F2-EBC4-B036-6C5E-C10ED15D8921}"/>
              </a:ext>
            </a:extLst>
          </p:cNvPr>
          <p:cNvSpPr/>
          <p:nvPr/>
        </p:nvSpPr>
        <p:spPr>
          <a:xfrm>
            <a:off x="0" y="1573212"/>
            <a:ext cx="18288000" cy="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75F0EE00-8E78-7638-1924-618003090299}"/>
              </a:ext>
            </a:extLst>
          </p:cNvPr>
          <p:cNvSpPr/>
          <p:nvPr/>
        </p:nvSpPr>
        <p:spPr>
          <a:xfrm>
            <a:off x="0" y="9944094"/>
            <a:ext cx="18288000" cy="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3F8BA6-FC07-D0CC-5F0A-DAA879EB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611314"/>
            <a:ext cx="7848600" cy="83708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F9E28C5-0B8B-182D-7996-226C08F41F1B}"/>
              </a:ext>
            </a:extLst>
          </p:cNvPr>
          <p:cNvSpPr txBox="1"/>
          <p:nvPr/>
        </p:nvSpPr>
        <p:spPr>
          <a:xfrm>
            <a:off x="838200" y="3360365"/>
            <a:ext cx="91503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Food safety evaluation addresses the critical health and safety concerns related to switching from traditional plastics to plant-based materials.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​Safe Migration Levels: The research confirms that the amount of bio-polymer material transferring into the food or drink stays within safe, acceptable limits.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​Food-Contact Suitability: The bio-polymers used (like PEF) are technically approved for direct contact with liquids, acting as a safe interface between the wood-pulp and the beverage.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​Temperature Stability: The packaging maintains its structural integrity and safety even when stored at various temperatures, ensuring the bottle doesn't degrade on the shelf.</a:t>
            </a:r>
          </a:p>
        </p:txBody>
      </p:sp>
    </p:spTree>
    <p:extLst>
      <p:ext uri="{BB962C8B-B14F-4D97-AF65-F5344CB8AC3E}">
        <p14:creationId xmlns:p14="http://schemas.microsoft.com/office/powerpoint/2010/main" val="366083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9719678"/>
            <a:ext cx="18440400" cy="142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575300" y="365125"/>
            <a:ext cx="131374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OUTCOMES</a:t>
            </a:r>
          </a:p>
        </p:txBody>
      </p:sp>
      <p:sp>
        <p:nvSpPr>
          <p:cNvPr id="4" name="Freeform 4"/>
          <p:cNvSpPr/>
          <p:nvPr/>
        </p:nvSpPr>
        <p:spPr>
          <a:xfrm>
            <a:off x="384048" y="147777"/>
            <a:ext cx="1289305" cy="1289305"/>
          </a:xfrm>
          <a:custGeom>
            <a:avLst/>
            <a:gdLst/>
            <a:ahLst/>
            <a:cxnLst/>
            <a:rect l="l" t="t" r="r" b="b"/>
            <a:pathLst>
              <a:path w="1289305" h="1289305">
                <a:moveTo>
                  <a:pt x="0" y="0"/>
                </a:moveTo>
                <a:lnTo>
                  <a:pt x="1289304" y="0"/>
                </a:lnTo>
                <a:lnTo>
                  <a:pt x="1289304" y="1289305"/>
                </a:lnTo>
                <a:lnTo>
                  <a:pt x="0" y="1289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0" y="1558925"/>
            <a:ext cx="18288000" cy="142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C93FB2-F959-8B70-F1E4-976342E2F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449721"/>
            <a:ext cx="7989462" cy="53875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2F724D-AACB-F221-BF47-12E2F9B8DEF7}"/>
              </a:ext>
            </a:extLst>
          </p:cNvPr>
          <p:cNvSpPr txBox="1"/>
          <p:nvPr/>
        </p:nvSpPr>
        <p:spPr>
          <a:xfrm>
            <a:off x="8458201" y="2857500"/>
            <a:ext cx="899159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This technology can be used in the real world and what the current limitations are.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​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Short-Shelf-Life Applications: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Currently, this packaging is most suitable for liquid foods that don't need to sit on a shelf for years. 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​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Massive Plastic Reduction: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Implementing this technology can reduce the industry's plastic use by 60–80%. 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​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Pilot-Scale Validation: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While the theory works, the slide notes that more testing is needed to see how these bottles perform in high-speed factory filling lines.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Experimental Validation: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We need more real-world tests on how these bottles hold up in fast-moving factory environments. 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​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Internal Pressure Management: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For carbonated drinks, the liner must be strong enough to handle the internal pressure of CO2 without the fiber shell losing its shape. 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​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Monomaterial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Focus: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ultimate goal is a "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monomaterial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fiber system" where the coating is so thin it doesn't interfere with standard paper recycling.</a:t>
            </a:r>
            <a:endParaRPr lang="en-I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715516"/>
            <a:ext cx="182880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575300" y="128855"/>
            <a:ext cx="13137400" cy="115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0"/>
              </a:lnSpc>
            </a:pPr>
            <a:r>
              <a:rPr lang="en-US" sz="7000" dirty="0">
                <a:latin typeface="Montserrat Bold" panose="020B0604020202020204" charset="0"/>
                <a:ea typeface="Lexend Deca"/>
                <a:cs typeface="Lexend Deca"/>
                <a:sym typeface="Lexend Deca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384048" y="147777"/>
            <a:ext cx="1289305" cy="1289305"/>
          </a:xfrm>
          <a:custGeom>
            <a:avLst/>
            <a:gdLst/>
            <a:ahLst/>
            <a:cxnLst/>
            <a:rect l="l" t="t" r="r" b="b"/>
            <a:pathLst>
              <a:path w="1289305" h="1289305">
                <a:moveTo>
                  <a:pt x="0" y="0"/>
                </a:moveTo>
                <a:lnTo>
                  <a:pt x="1289304" y="0"/>
                </a:lnTo>
                <a:lnTo>
                  <a:pt x="1289304" y="1289305"/>
                </a:lnTo>
                <a:lnTo>
                  <a:pt x="0" y="1289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-76200" y="1573213"/>
            <a:ext cx="183642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CF8EDB-8E4A-1965-A7FF-0FE2964CB44E}"/>
              </a:ext>
            </a:extLst>
          </p:cNvPr>
          <p:cNvSpPr txBox="1"/>
          <p:nvPr/>
        </p:nvSpPr>
        <p:spPr>
          <a:xfrm>
            <a:off x="228601" y="1981595"/>
            <a:ext cx="9188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3200" b="1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D3392-4C89-66DC-8666-93FEA2A26651}"/>
              </a:ext>
            </a:extLst>
          </p:cNvPr>
          <p:cNvSpPr txBox="1"/>
          <p:nvPr/>
        </p:nvSpPr>
        <p:spPr>
          <a:xfrm>
            <a:off x="914400" y="6693495"/>
            <a:ext cx="1828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3607C8-572F-C770-5212-7E843EE93B48}"/>
              </a:ext>
            </a:extLst>
          </p:cNvPr>
          <p:cNvSpPr txBox="1"/>
          <p:nvPr/>
        </p:nvSpPr>
        <p:spPr>
          <a:xfrm>
            <a:off x="0" y="5738439"/>
            <a:ext cx="1828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800" b="1" dirty="0"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884E4-307D-1741-72B1-42E90A10A8C4}"/>
              </a:ext>
            </a:extLst>
          </p:cNvPr>
          <p:cNvSpPr txBox="1"/>
          <p:nvPr/>
        </p:nvSpPr>
        <p:spPr>
          <a:xfrm>
            <a:off x="571498" y="2817942"/>
            <a:ext cx="82296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Eco-Friendly Packaging: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industry is replacing PET and glass with "Paper Bottles" made via Moulded Fiber Technology.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Bio-Barriers: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Plant-based liners like PEF prevent liquid absorption and maintain the bottle's structure.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Protection: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These coatings manage WVTR and OTR to preserve drink taste and shelf-life.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Verified Safety: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Testing confirms safe migration levels and stability across various temperatures.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Impact: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This design reduces plastic usage by 60–80% while staying recyclable.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Next Steps: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Challenges remain in high-speed aseptic filling, requiring more industrial-scale testing.</a:t>
            </a:r>
            <a:br>
              <a:rPr lang="en-US" dirty="0"/>
            </a:b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1077BF-038B-FB2C-D406-017131CAB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996" y="2242468"/>
            <a:ext cx="8077200" cy="64713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7671-589E-04FC-3A95-A9ACDC7F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F07E9DF-A275-4776-55C1-E9BF47D55AC0}"/>
              </a:ext>
            </a:extLst>
          </p:cNvPr>
          <p:cNvSpPr/>
          <p:nvPr/>
        </p:nvSpPr>
        <p:spPr>
          <a:xfrm>
            <a:off x="0" y="9715516"/>
            <a:ext cx="182880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18C8705-7F02-A608-8D62-A53042DB1B18}"/>
              </a:ext>
            </a:extLst>
          </p:cNvPr>
          <p:cNvSpPr txBox="1"/>
          <p:nvPr/>
        </p:nvSpPr>
        <p:spPr>
          <a:xfrm>
            <a:off x="2575300" y="128855"/>
            <a:ext cx="131374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REFERNCES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DCFB955-4A25-5AB1-B557-F613CF369892}"/>
              </a:ext>
            </a:extLst>
          </p:cNvPr>
          <p:cNvSpPr/>
          <p:nvPr/>
        </p:nvSpPr>
        <p:spPr>
          <a:xfrm>
            <a:off x="384048" y="147777"/>
            <a:ext cx="1289305" cy="1289305"/>
          </a:xfrm>
          <a:custGeom>
            <a:avLst/>
            <a:gdLst/>
            <a:ahLst/>
            <a:cxnLst/>
            <a:rect l="l" t="t" r="r" b="b"/>
            <a:pathLst>
              <a:path w="1289305" h="1289305">
                <a:moveTo>
                  <a:pt x="0" y="0"/>
                </a:moveTo>
                <a:lnTo>
                  <a:pt x="1289304" y="0"/>
                </a:lnTo>
                <a:lnTo>
                  <a:pt x="1289304" y="1289305"/>
                </a:lnTo>
                <a:lnTo>
                  <a:pt x="0" y="1289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949DE23-106B-0FE6-4A90-5A7962DDF0FB}"/>
              </a:ext>
            </a:extLst>
          </p:cNvPr>
          <p:cNvSpPr/>
          <p:nvPr/>
        </p:nvSpPr>
        <p:spPr>
          <a:xfrm>
            <a:off x="-76200" y="1573213"/>
            <a:ext cx="183642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A1C900-7F93-1745-EB17-30711DDD7167}"/>
              </a:ext>
            </a:extLst>
          </p:cNvPr>
          <p:cNvSpPr txBox="1"/>
          <p:nvPr/>
        </p:nvSpPr>
        <p:spPr>
          <a:xfrm>
            <a:off x="409448" y="2476500"/>
            <a:ext cx="1323035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Avantium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. (2024). </a:t>
            </a:r>
          </a:p>
          <a:p>
            <a:r>
              <a:rPr lang="en-US" sz="2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PEF and FDCA: Pioneering sustainable chemistry solutions.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i="1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Poppins Italics"/>
              <a:sym typeface="Poppins Itali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Paboco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. (2022). </a:t>
            </a:r>
          </a:p>
          <a:p>
            <a:r>
              <a:rPr lang="en-US" sz="2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Paboco</a:t>
            </a:r>
            <a:r>
              <a:rPr lang="en-US" sz="2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reveals a prototype of the next generation paper bottle.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i="1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Poppins Italics"/>
              <a:sym typeface="Poppins Itali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Burgess, S. K., et al. (2014).</a:t>
            </a:r>
          </a:p>
          <a:p>
            <a:r>
              <a:rPr lang="en-I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"Oxygen sorption and transport in amorphous poly(ethylene </a:t>
            </a:r>
            <a:r>
              <a:rPr lang="en-IN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furanoate</a:t>
            </a:r>
            <a:r>
              <a:rPr lang="en-I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).</a:t>
            </a:r>
            <a:r>
              <a:rPr lang="en-IN" sz="28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Macromolecules</a:t>
            </a:r>
            <a:r>
              <a:rPr lang="en-IN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, 47(4).</a:t>
            </a:r>
            <a:endParaRPr lang="en-US" sz="2800" b="1" i="1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Poppins Italics"/>
              <a:sym typeface="Poppins Italics"/>
            </a:endParaRPr>
          </a:p>
          <a:p>
            <a:endParaRPr lang="en-US" sz="2400" i="1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Poppins Italics"/>
              <a:sym typeface="Poppins Itali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5ABC7C-795C-CCB0-0868-AA83319BE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600" y="2933700"/>
            <a:ext cx="3789177" cy="378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46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AutoShape 8"/>
          <p:cNvSpPr/>
          <p:nvPr/>
        </p:nvSpPr>
        <p:spPr>
          <a:xfrm>
            <a:off x="-2047605" y="1918112"/>
            <a:ext cx="20335605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96454" y="404994"/>
            <a:ext cx="18066661" cy="1247413"/>
            <a:chOff x="0" y="0"/>
            <a:chExt cx="24088881" cy="1663217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088881" cy="1663217"/>
              <a:chOff x="0" y="0"/>
              <a:chExt cx="4758297" cy="32853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758298" cy="328537"/>
              </a:xfrm>
              <a:custGeom>
                <a:avLst/>
                <a:gdLst/>
                <a:ahLst/>
                <a:cxnLst/>
                <a:rect l="l" t="t" r="r" b="b"/>
                <a:pathLst>
                  <a:path w="4758298" h="328537">
                    <a:moveTo>
                      <a:pt x="11107" y="0"/>
                    </a:moveTo>
                    <a:lnTo>
                      <a:pt x="4747190" y="0"/>
                    </a:lnTo>
                    <a:cubicBezTo>
                      <a:pt x="4753325" y="0"/>
                      <a:pt x="4758298" y="4973"/>
                      <a:pt x="4758298" y="11107"/>
                    </a:cubicBezTo>
                    <a:lnTo>
                      <a:pt x="4758298" y="317429"/>
                    </a:lnTo>
                    <a:cubicBezTo>
                      <a:pt x="4758298" y="323564"/>
                      <a:pt x="4753325" y="328537"/>
                      <a:pt x="4747190" y="328537"/>
                    </a:cubicBezTo>
                    <a:lnTo>
                      <a:pt x="11107" y="328537"/>
                    </a:lnTo>
                    <a:cubicBezTo>
                      <a:pt x="4973" y="328537"/>
                      <a:pt x="0" y="323564"/>
                      <a:pt x="0" y="317429"/>
                    </a:cubicBezTo>
                    <a:lnTo>
                      <a:pt x="0" y="11107"/>
                    </a:lnTo>
                    <a:cubicBezTo>
                      <a:pt x="0" y="4973"/>
                      <a:pt x="4973" y="0"/>
                      <a:pt x="1110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4758297" cy="357112"/>
              </a:xfrm>
              <a:prstGeom prst="rect">
                <a:avLst/>
              </a:prstGeom>
            </p:spPr>
            <p:txBody>
              <a:bodyPr lIns="58796" tIns="58796" rIns="58796" bIns="58796" rtlCol="0" anchor="ctr"/>
              <a:lstStyle/>
              <a:p>
                <a:pPr algn="ctr">
                  <a:lnSpc>
                    <a:spcPts val="2318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7084995" y="108668"/>
              <a:ext cx="9231505" cy="1538584"/>
            </a:xfrm>
            <a:custGeom>
              <a:avLst/>
              <a:gdLst/>
              <a:ahLst/>
              <a:cxnLst/>
              <a:rect l="l" t="t" r="r" b="b"/>
              <a:pathLst>
                <a:path w="9231505" h="1538584">
                  <a:moveTo>
                    <a:pt x="0" y="0"/>
                  </a:moveTo>
                  <a:lnTo>
                    <a:pt x="9231505" y="0"/>
                  </a:lnTo>
                  <a:lnTo>
                    <a:pt x="9231505" y="1538584"/>
                  </a:lnTo>
                  <a:lnTo>
                    <a:pt x="0" y="153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614330" y="3761200"/>
            <a:ext cx="13059340" cy="248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45"/>
              </a:lnSpc>
            </a:pPr>
            <a:r>
              <a:rPr lang="en-US" sz="14532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Words>704</Words>
  <Application>Microsoft Office PowerPoint</Application>
  <PresentationFormat>Custom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Lexend Deca</vt:lpstr>
      <vt:lpstr>Wingdings</vt:lpstr>
      <vt:lpstr>Montserrat Bold</vt:lpstr>
      <vt:lpstr>Lucida Sans</vt:lpstr>
      <vt:lpstr>Montserrat Medium</vt:lpstr>
      <vt:lpstr>Arial Black</vt:lpstr>
      <vt:lpstr>Aptos Display</vt:lpstr>
      <vt:lpstr>Cambria Math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NUTRIVORA 2025</dc:title>
  <dc:creator>Siji Shalbin</dc:creator>
  <cp:lastModifiedBy>shanneysimon@gmail.com</cp:lastModifiedBy>
  <cp:revision>7</cp:revision>
  <dcterms:created xsi:type="dcterms:W3CDTF">2006-08-16T00:00:00Z</dcterms:created>
  <dcterms:modified xsi:type="dcterms:W3CDTF">2026-02-10T14:01:27Z</dcterms:modified>
  <dc:identifier>DAG1OBogxRQ</dc:identifier>
</cp:coreProperties>
</file>